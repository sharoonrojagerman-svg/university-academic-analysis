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9CCD4A-C824-401C-B964-E905095F74A1}">
  <a:tblStyle styleId="{009CCD4A-C824-401C-B964-E905095F74A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20" Type="http://schemas.openxmlformats.org/officeDocument/2006/relationships/slide" Target="slides/slide14.xml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22" Type="http://schemas.openxmlformats.org/officeDocument/2006/relationships/slide" Target="slides/slide16.xml"/><Relationship Id="rId44" Type="http://schemas.openxmlformats.org/officeDocument/2006/relationships/font" Target="fonts/Lato-bold.fntdata"/><Relationship Id="rId21" Type="http://schemas.openxmlformats.org/officeDocument/2006/relationships/slide" Target="slides/slide15.xml"/><Relationship Id="rId43" Type="http://schemas.openxmlformats.org/officeDocument/2006/relationships/font" Target="fonts/Lato-regular.fntdata"/><Relationship Id="rId24" Type="http://schemas.openxmlformats.org/officeDocument/2006/relationships/slide" Target="slides/slide18.xml"/><Relationship Id="rId46" Type="http://schemas.openxmlformats.org/officeDocument/2006/relationships/font" Target="fonts/Lato-boldItalic.fntdata"/><Relationship Id="rId23" Type="http://schemas.openxmlformats.org/officeDocument/2006/relationships/slide" Target="slides/slide17.xml"/><Relationship Id="rId45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aleway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8f6ea8982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8f6ea8982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f6ea8982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f6ea8982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f6ea8982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8f6ea8982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8f6ea8982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8f6ea8982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8f6ea8982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8f6ea8982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f6ea8982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8f6ea8982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f6ea8982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8f6ea8982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8f6ea8982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8f6ea8982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8f6ea8982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8f6ea8982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8f6ea8982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8f6ea8982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8f6ea8982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8f6ea8982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8f6ea8982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8f6ea8982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8f6ea8982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8f6ea8982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8f6ea8982_2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8f6ea8982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8f6ea8982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8f6ea8982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8f6ea8982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8f6ea8982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8f6ea8982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8f6ea8982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8f6ea8982_2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8f6ea8982_2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8f6ea8982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8f6ea8982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8f6ea8982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8f6ea8982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8f6ea8982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c8f6ea8982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8f6ea8982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8f6ea8982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8f6ea8982_2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8f6ea8982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8f6ea8982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8f6ea8982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8f6ea8982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c8f6ea8982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8f6ea8982_2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8f6ea8982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8f6ea8982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8f6ea8982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8f6ea8982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8f6ea8982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8f6ea8982_2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c8f6ea8982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idx="4294967295" type="ctrTitle"/>
          </p:nvPr>
        </p:nvSpPr>
        <p:spPr>
          <a:xfrm>
            <a:off x="568500" y="2154150"/>
            <a:ext cx="80070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40">
                <a:latin typeface="Times New Roman"/>
                <a:ea typeface="Times New Roman"/>
                <a:cs typeface="Times New Roman"/>
                <a:sym typeface="Times New Roman"/>
              </a:rPr>
              <a:t>UNIVERSITY ACADEMIC PERFORMANCE</a:t>
            </a:r>
            <a:endParaRPr sz="29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-13250" y="-265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-13250" y="44806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idx="4294967295" type="title"/>
          </p:nvPr>
        </p:nvSpPr>
        <p:spPr>
          <a:xfrm>
            <a:off x="606650" y="401200"/>
            <a:ext cx="7688400" cy="599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40"/>
              <a:t>DATA TABLES DESCRIPTION</a:t>
            </a:r>
            <a:endParaRPr sz="2740"/>
          </a:p>
        </p:txBody>
      </p:sp>
      <p:graphicFrame>
        <p:nvGraphicFramePr>
          <p:cNvPr id="94" name="Google Shape;94;p14"/>
          <p:cNvGraphicFramePr/>
          <p:nvPr/>
        </p:nvGraphicFramePr>
        <p:xfrm>
          <a:off x="4572000" y="1259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{009CCD4A-C824-401C-B964-E905095F74A1}</a:tableStyleId>
              </a:tblPr>
              <a:tblGrid>
                <a:gridCol w="1045275"/>
                <a:gridCol w="3453950"/>
              </a:tblGrid>
              <a:tr h="16225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TABLE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5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identification number for each student.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FirstName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first name of the student.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Last Name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surname or family name of the student.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Gender of the student (e.g., Male, Female).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 Of Birth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Student's birth date, used to calculate current age.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Major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primary field of study or academic department.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GPA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Cumulative Grade Point Average representing academic success.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14"/>
          <p:cNvGraphicFramePr/>
          <p:nvPr/>
        </p:nvGraphicFramePr>
        <p:xfrm>
          <a:off x="4572000" y="319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{009CCD4A-C824-401C-B964-E905095F74A1}</a:tableStyleId>
              </a:tblPr>
              <a:tblGrid>
                <a:gridCol w="861950"/>
                <a:gridCol w="3637275"/>
              </a:tblGrid>
              <a:tr h="2522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 TABLE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CourseID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Unique identification code for each subject.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CourseName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The official title of the academic course.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Department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The academic faculty responsible for the course.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6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Credits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Numerical weightage/points assigned to the course.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Instructor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The name of the faculty member teaching the course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6" name="Google Shape;96;p14"/>
          <p:cNvSpPr txBox="1"/>
          <p:nvPr/>
        </p:nvSpPr>
        <p:spPr>
          <a:xfrm>
            <a:off x="483275" y="1507375"/>
            <a:ext cx="3831900" cy="3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TABLE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This is the master table containing personal and academic profiles for all students. It serves as the primary entity for demographic and overall performance analysis.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TABLE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 subject catalog containing details about every course offered by the university.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15"/>
          <p:cNvGraphicFramePr/>
          <p:nvPr/>
        </p:nvGraphicFramePr>
        <p:xfrm>
          <a:off x="4893175" y="11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{009CCD4A-C824-401C-B964-E905095F74A1}</a:tableStyleId>
              </a:tblPr>
              <a:tblGrid>
                <a:gridCol w="977900"/>
                <a:gridCol w="3165650"/>
              </a:tblGrid>
              <a:tr h="2190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ENROLLMENT TABLE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Enrollment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record ID for each course registration instance.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ID linking to the student who is enrolling.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ID linking to the specific course being taken.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Semester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academic term (e.g., Spring, Fall, Summer).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calendar year of the specific enrollment.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final letter grade achieved by the student in that course.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Google Shape;102;p15"/>
          <p:cNvGraphicFramePr/>
          <p:nvPr/>
        </p:nvGraphicFramePr>
        <p:xfrm>
          <a:off x="4893175" y="310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{009CCD4A-C824-401C-B964-E905095F74A1}</a:tableStyleId>
              </a:tblPr>
              <a:tblGrid>
                <a:gridCol w="1092950"/>
                <a:gridCol w="3050600"/>
              </a:tblGrid>
              <a:tr h="2190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GRADES TABLE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GradeID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ID for every individual assessment entry.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ID of the student who took the assessment.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ID of the subject for the assessment.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Assignment Type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 of evaluation (Quiz, Midterm, Final Exam, Assignment).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actual marks obtained out of 100.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date when the assessment was conducted.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15"/>
          <p:cNvSpPr txBox="1"/>
          <p:nvPr/>
        </p:nvSpPr>
        <p:spPr>
          <a:xfrm>
            <a:off x="536300" y="1534425"/>
            <a:ext cx="3831900" cy="3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ENROLLMENT </a:t>
            </a: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junction table that records which students are registered for which courses during specific terms.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GRADES TABLE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table provides a granular breakdown of student performance on specific assessments within a course.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16"/>
          <p:cNvGraphicFramePr/>
          <p:nvPr/>
        </p:nvGraphicFramePr>
        <p:xfrm>
          <a:off x="4778100" y="132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{009CCD4A-C824-401C-B964-E905095F74A1}</a:tableStyleId>
              </a:tblPr>
              <a:tblGrid>
                <a:gridCol w="1089675"/>
                <a:gridCol w="3145925"/>
              </a:tblGrid>
              <a:tr h="2190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 TABLE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ID for each daily attendance entry.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ID for the student in the attendance log.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CourseID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specific class the student attended or missed.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specific date of the lecture.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Attendance Status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Indicator of whether the student was 'Present' or 'Absent'.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Google Shape;109;p16"/>
          <p:cNvGraphicFramePr/>
          <p:nvPr/>
        </p:nvGraphicFramePr>
        <p:xfrm>
          <a:off x="4778100" y="320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{009CCD4A-C824-401C-B964-E905095F74A1}</a:tableStyleId>
              </a:tblPr>
              <a:tblGrid>
                <a:gridCol w="1089675"/>
                <a:gridCol w="3145925"/>
              </a:tblGrid>
              <a:tr h="21907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FEEDBACK TABLE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Feedback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ID for each student feedback submission.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ID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ID of the student providing the review.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Feedback Date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date when the feedback was submitted.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Feedback Text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actual comments or reviews provided by the student.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0" name="Google Shape;110;p16"/>
          <p:cNvSpPr txBox="1"/>
          <p:nvPr/>
        </p:nvSpPr>
        <p:spPr>
          <a:xfrm>
            <a:off x="483275" y="1507375"/>
            <a:ext cx="3831900" cy="3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</a:t>
            </a: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TABLE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log of student engagement, tracking daily presence or absence in scheduled classes.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  TABLE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qualitative dataset containing student opinions and reviews about their academic experience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4294967295"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>
                <a:latin typeface="Times New Roman"/>
                <a:ea typeface="Times New Roman"/>
                <a:cs typeface="Times New Roman"/>
                <a:sym typeface="Times New Roman"/>
              </a:rPr>
              <a:t>PROJECT DEFINITION</a:t>
            </a:r>
            <a:endParaRPr sz="23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7"/>
          <p:cNvSpPr txBox="1"/>
          <p:nvPr>
            <p:ph idx="4294967295" type="body"/>
          </p:nvPr>
        </p:nvSpPr>
        <p:spPr>
          <a:xfrm>
            <a:off x="729450" y="2078875"/>
            <a:ext cx="76887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This project is a University Academic Intelligence &amp; Institutional Analytics System.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It is designed to transform raw institutional data into actionable insights to improve academic outcomes and administrative efficiency.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idx="4294967295"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CORE OBJECTIVE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425750" y="2078875"/>
            <a:ext cx="8480400" cy="25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7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40"/>
              <a:buFont typeface="Times New Roman"/>
              <a:buChar char="●"/>
            </a:pPr>
            <a:r>
              <a:rPr b="1" lang="en" sz="1640">
                <a:latin typeface="Times New Roman"/>
                <a:ea typeface="Times New Roman"/>
                <a:cs typeface="Times New Roman"/>
                <a:sym typeface="Times New Roman"/>
              </a:rPr>
              <a:t>Student Success: To identify "At-Risk" students early through GPA and attendance trends.</a:t>
            </a:r>
            <a:endParaRPr b="1" sz="16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40"/>
              <a:buFont typeface="Times New Roman"/>
              <a:buChar char="●"/>
            </a:pPr>
            <a:r>
              <a:rPr b="1" lang="en" sz="1640">
                <a:latin typeface="Times New Roman"/>
                <a:ea typeface="Times New Roman"/>
                <a:cs typeface="Times New Roman"/>
                <a:sym typeface="Times New Roman"/>
              </a:rPr>
              <a:t>Faculty Optimization: To evaluate instructor workloads and their impact on student performance.</a:t>
            </a:r>
            <a:endParaRPr b="1" sz="16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40"/>
              <a:buFont typeface="Times New Roman"/>
              <a:buChar char="●"/>
            </a:pPr>
            <a:r>
              <a:rPr b="1" lang="en" sz="1640">
                <a:latin typeface="Times New Roman"/>
                <a:ea typeface="Times New Roman"/>
                <a:cs typeface="Times New Roman"/>
                <a:sym typeface="Times New Roman"/>
              </a:rPr>
              <a:t>Operational Efficiency: To audit departmental resources and course difficulty levels.</a:t>
            </a:r>
            <a:endParaRPr b="1" sz="16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40"/>
              <a:buFont typeface="Times New Roman"/>
              <a:buChar char="●"/>
            </a:pPr>
            <a:r>
              <a:rPr b="1" lang="en" sz="1640">
                <a:latin typeface="Times New Roman"/>
                <a:ea typeface="Times New Roman"/>
                <a:cs typeface="Times New Roman"/>
                <a:sym typeface="Times New Roman"/>
              </a:rPr>
              <a:t>Engagement Analysis: To monitor student participation and feedback patterns for institutional growth.</a:t>
            </a:r>
            <a:endParaRPr b="1" sz="16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4294967295"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Processes Conducted</a:t>
            </a:r>
            <a:endParaRPr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9"/>
          <p:cNvSpPr txBox="1"/>
          <p:nvPr>
            <p:ph idx="4294967295" type="body"/>
          </p:nvPr>
        </p:nvSpPr>
        <p:spPr>
          <a:xfrm>
            <a:off x="727650" y="1906275"/>
            <a:ext cx="7688700" cy="30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1. Data Acquisition: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Gathered structured raw data in CSV format representing various university entities: Students, Courses, Enrollments, Grades, Attendance, and Feedback.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Imported the datasets into MySQL Workbench to establish a relational database environment.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2. Data Cleaning &amp; Validation: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Null Value Audit: Conducted a comprehensive quality check across all tables (using IS NULL logic) to ensure data integrity.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Verification: Confirmed that the dataset contained zero null values, ensuring that the subsequent analysis is based on a 100% complete dataset.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897525" y="1415325"/>
            <a:ext cx="7882200" cy="3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Analysis &amp; Transformation: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Querying: Developed 18 high-level SQL scripts using Window Functions to transform raw records into meaningful academic metrics.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Engineering: Created calculated fields like "Student Life Stage" (from DOB) and "Retention Risk Level" (from GPA and Major) to add predictive value.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Benchmarking: Performed cross-table aggregations to compare departmental performance against university averages.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0D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idx="4294967295" type="title"/>
          </p:nvPr>
        </p:nvSpPr>
        <p:spPr>
          <a:xfrm>
            <a:off x="1096950" y="1000225"/>
            <a:ext cx="6950100" cy="27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1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STUDENT PROFILING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DEMOGRAPHIC INTELLIGENCE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-13250" y="-265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-13250" y="44806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1.The "Non-Traditional Student" STEM Performance Benchmark  of Computer, Mathematics and Physics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00" y="1106075"/>
            <a:ext cx="3710949" cy="1908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1775" y="991000"/>
            <a:ext cx="4643150" cy="25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:Identified that "Experienced Adults" often maintain higher GPAs in STEM, suggesting that maturity and prior experience contribute to better academic discipline.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625" y="658631"/>
            <a:ext cx="4178974" cy="226221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23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Academic Standing &amp; Retention Risk Mapping for University Counselors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Segmented students into "Priority" levels; discovered that Physics and CS have the highest concentration of "At-Risk" students, signaling a need for departmental tutoring.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300" y="956450"/>
            <a:ext cx="4316925" cy="202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625" y="2898330"/>
            <a:ext cx="4178975" cy="987758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23"/>
          <p:cNvSpPr/>
          <p:nvPr/>
        </p:nvSpPr>
        <p:spPr>
          <a:xfrm>
            <a:off x="4878375" y="689325"/>
            <a:ext cx="4179000" cy="3196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 Distribution &amp; Enrollment Parity Index (Male vs. Female)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353850" y="3885900"/>
            <a:ext cx="84363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specific departments with significant gender gaps, providing the university with a clean "Parity Index" to guide diversity recruitment and scholarship allocation.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00" y="956450"/>
            <a:ext cx="4228699" cy="2145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956450"/>
            <a:ext cx="4228700" cy="23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0D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idx="4294967295" type="title"/>
          </p:nvPr>
        </p:nvSpPr>
        <p:spPr>
          <a:xfrm>
            <a:off x="1096950" y="1000225"/>
            <a:ext cx="6950100" cy="27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2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DEPARTMENTAL RESOURCE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WORKLOAD ANALYTICS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-13250" y="-265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-13250" y="44806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Load vs. Academic Success Correlation Matrix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Revealed that instructors with a "High Credit Load" sometimes show a slight decline in average student GPA, suggesting a need for workload balancing.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50" y="804050"/>
            <a:ext cx="3367126" cy="198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175" y="804050"/>
            <a:ext cx="5027925" cy="29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Departmental Resource Audit for Capacity Planning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 that certain departments have a 40:1 student-to-faculty ratio, providing a data-backed justification for hiring new staff.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100" y="804050"/>
            <a:ext cx="5554449" cy="1787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9" name="Google Shape;18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375" y="2697700"/>
            <a:ext cx="7498635" cy="11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Cross-Departmental GPA Variance &amp; Grade Inflation Benchmark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Detected "Potential Grade Inflation" in departments where the average GPA is 0.5 points higher than the university mean, prompting a review of grading rubrics.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25" y="1287598"/>
            <a:ext cx="3632275" cy="1787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1900" y="956450"/>
            <a:ext cx="4729699" cy="2718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0D9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idx="4294967295" type="title"/>
          </p:nvPr>
        </p:nvSpPr>
        <p:spPr>
          <a:xfrm>
            <a:off x="1096950" y="1000225"/>
            <a:ext cx="6950100" cy="27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3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GRADE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EVALUATION INTELLIGENCE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-13250" y="-265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-13250" y="44806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"Final Exam Stress" Performance Gap Analysis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gap values suggest students who only perform well under specific conditions, helping advisors target those who need help with consistent study habits.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75" y="956450"/>
            <a:ext cx="3486450" cy="1559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800" y="804050"/>
            <a:ext cx="4401700" cy="30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Top-Tier "Consistent High-Performers"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a elite group of "Consistent High-Performers" who never dropped below 75%; these are primary candidates for merit scholarships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375" y="1049250"/>
            <a:ext cx="4428775" cy="21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525" y="1049250"/>
            <a:ext cx="3406900" cy="1814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Difficulty Index &amp; Student Failure Rate Analysis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Ranked courses by "Failure Percentage"; found that 2-3 core subjects act as "Gatekeeper" courses with failure rates above 25%.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75" y="956450"/>
            <a:ext cx="3778075" cy="1840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975" y="804050"/>
            <a:ext cx="4549225" cy="30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0D9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idx="4294967295" type="title"/>
          </p:nvPr>
        </p:nvSpPr>
        <p:spPr>
          <a:xfrm>
            <a:off x="1096950" y="1000225"/>
            <a:ext cx="6950100" cy="27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4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ADVANCED PERFORMANCE RANKING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-13250" y="-265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-13250" y="44806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Intradepartmental Topper Ranking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the selection of the Top 3 students per major. This eliminates manual bias and ensures toppers are recognized even during score ties.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775" y="956450"/>
            <a:ext cx="3831100" cy="1747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3" name="Google Shape;24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0275" y="729100"/>
            <a:ext cx="4249875" cy="30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Longitudinal Enrollment &amp; Credit Load Trends.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5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the "Peak Year" for credit delivery, helping the administration understand which academic cycle puts the most strain on university facilities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75" y="956450"/>
            <a:ext cx="3605750" cy="16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125" y="890175"/>
            <a:ext cx="4553625" cy="22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</a:t>
            </a: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Academic Momentum Tracking by Percentile.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6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 that students in the bottom 10th percentile of credit completion are likely to delay graduation, allowing for early academic counseling.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8" name="Google Shape;2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25" y="1524500"/>
            <a:ext cx="3751574" cy="1527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9" name="Google Shape;25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4700" y="956450"/>
            <a:ext cx="4435450" cy="2517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0D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idx="4294967295" type="title"/>
          </p:nvPr>
        </p:nvSpPr>
        <p:spPr>
          <a:xfrm>
            <a:off x="1096950" y="1000225"/>
            <a:ext cx="6950100" cy="27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5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ATTENDANCE PERSISTENCE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 FORECASTING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7"/>
          <p:cNvSpPr/>
          <p:nvPr/>
        </p:nvSpPr>
        <p:spPr>
          <a:xfrm>
            <a:off x="-13250" y="-265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37"/>
          <p:cNvSpPr/>
          <p:nvPr/>
        </p:nvSpPr>
        <p:spPr>
          <a:xfrm>
            <a:off x="-13250" y="44806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Sequential Absence Detection (Engagement Warning System).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flagged students whose attendance shifted from "Present" to "Absent" sequentially, acting as a "Early Warning System" for dropouts.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00" y="1484725"/>
            <a:ext cx="3420175" cy="151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4" name="Google Shape;27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6775" y="662825"/>
            <a:ext cx="4553625" cy="30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 Peak Absenteeism &amp; Weekly Pattern Analysis.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Discovered that absenteeism peaks on Fridays (20% higher). Suggestion: Avoid scheduling core technical labs or exams on these days.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1" name="Google Shape;28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25" y="1232850"/>
            <a:ext cx="3711800" cy="1617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2" name="Google Shape;28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1425" y="956450"/>
            <a:ext cx="4381325" cy="25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 Low-Engagement Audit for Mandatory Attendance Compliance.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40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a "Compliance List" of students falling below 75% attendance, ready for automated warning email triggers.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" name="Google Shape;2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75" y="1246100"/>
            <a:ext cx="3539476" cy="1789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0" name="Google Shape;29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050" y="956450"/>
            <a:ext cx="4610100" cy="26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80D9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idx="4294967295" type="title"/>
          </p:nvPr>
        </p:nvSpPr>
        <p:spPr>
          <a:xfrm>
            <a:off x="1096950" y="1000225"/>
            <a:ext cx="6950100" cy="27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 6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INSTITUTIONAL FEEDBACK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360-DEGREE ANALYSIS</a:t>
            </a:r>
            <a:endParaRPr sz="3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41"/>
          <p:cNvSpPr/>
          <p:nvPr/>
        </p:nvSpPr>
        <p:spPr>
          <a:xfrm>
            <a:off x="-13250" y="-265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41"/>
          <p:cNvSpPr/>
          <p:nvPr/>
        </p:nvSpPr>
        <p:spPr>
          <a:xfrm>
            <a:off x="-13250" y="4480625"/>
            <a:ext cx="9157200" cy="68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  Feedback Engagement vs. Academic Success Correlation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42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Proved that "Active Feedback Users" generally have .3 higher GPA than passive students, suggesting a link between institutional engagement and academic success.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4" name="Google Shape;30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175" y="804050"/>
            <a:ext cx="6058199" cy="1895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5" name="Google Shape;30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9625" y="2926175"/>
            <a:ext cx="5148700" cy="8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  Multi-Year Credit Achievement Transcript Summary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43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Provided a clear longitudinal view of student progress, helping advisors verify if students are meeting semester-wise credit targets.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2" name="Google Shape;31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50" y="956450"/>
            <a:ext cx="3685300" cy="2476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3" name="Google Shape;31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8650" y="729100"/>
            <a:ext cx="4447575" cy="30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"/>
          <p:cNvSpPr txBox="1"/>
          <p:nvPr>
            <p:ph idx="4294967295" type="title"/>
          </p:nvPr>
        </p:nvSpPr>
        <p:spPr>
          <a:xfrm>
            <a:off x="343300" y="110450"/>
            <a:ext cx="8712300" cy="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7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18. Holistic Instructor Performance Scorecard (360-Degree Analysis)</a:t>
            </a:r>
            <a:endParaRPr b="0" sz="17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4"/>
          <p:cNvSpPr txBox="1"/>
          <p:nvPr/>
        </p:nvSpPr>
        <p:spPr>
          <a:xfrm>
            <a:off x="353850" y="3885900"/>
            <a:ext cx="8436300" cy="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a holistic "Faculty Ranking" that balances teaching volume with student satisfaction and grades, moving away from biased, single-metric evaluations.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0" name="Google Shape;32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50" y="1338900"/>
            <a:ext cx="3473200" cy="1902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1" name="Google Shape;32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5150" y="676075"/>
            <a:ext cx="4514999" cy="30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